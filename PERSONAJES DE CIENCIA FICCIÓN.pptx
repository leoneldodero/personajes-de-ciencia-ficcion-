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350" y="-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824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D327-2D39-46B1-A40F-D703EC9757F2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ED616-0156-4BAC-8C59-865E8B7F18E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4ED616-0156-4BAC-8C59-865E8B7F18E6}" type="slidenum">
              <a:rPr lang="es-AR" smtClean="0"/>
              <a:pPr/>
              <a:t>1</a:t>
            </a:fld>
            <a:endParaRPr 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Triángulo isósceles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s-AR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riángulo rectángulo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Triángulo isósceles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1" name="10 Conector recto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Triángulo rectángulo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7 Conector recto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ADEDF3F8-5063-4A02-8F3D-54690BA69DE7}" type="datetimeFigureOut">
              <a:rPr lang="es-AR" smtClean="0"/>
              <a:pPr/>
              <a:t>27/11/2025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1E21E88D-8B8A-4A9F-A20C-E5807D9B47F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85786" y="571480"/>
            <a:ext cx="7772400" cy="914400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>
            <a:noAutofit/>
          </a:bodyPr>
          <a:lstStyle/>
          <a:p>
            <a:pPr algn="ctr"/>
            <a:r>
              <a:rPr lang="es-AR" dirty="0" smtClean="0"/>
              <a:t>PERSONAJES DE CIENCIA FICCIÓN</a:t>
            </a:r>
            <a:endParaRPr lang="es-AR" dirty="0"/>
          </a:p>
        </p:txBody>
      </p:sp>
      <p:pic>
        <p:nvPicPr>
          <p:cNvPr id="11" name="10 Marcador de contenido" descr="vcredist.bmp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2512" y="2192337"/>
            <a:ext cx="7038975" cy="3952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266" name="AutoShape 2" descr="Los 10 personajes más poderosos de ficción - ¡Del manga al cine!"/>
          <p:cNvSpPr>
            <a:spLocks noChangeAspect="1" noChangeArrowheads="1"/>
          </p:cNvSpPr>
          <p:nvPr/>
        </p:nvSpPr>
        <p:spPr bwMode="auto">
          <a:xfrm>
            <a:off x="0" y="-304801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6" name="5 CuadroTexto"/>
          <p:cNvSpPr txBox="1"/>
          <p:nvPr/>
        </p:nvSpPr>
        <p:spPr>
          <a:xfrm>
            <a:off x="785786" y="6211669"/>
            <a:ext cx="7929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Del Peral Romina                                                              </a:t>
            </a:r>
            <a:r>
              <a:rPr lang="es-AR" dirty="0" smtClean="0"/>
              <a:t>Comisión </a:t>
            </a:r>
            <a:r>
              <a:rPr lang="es-AR" dirty="0" smtClean="0"/>
              <a:t>5                 </a:t>
            </a:r>
          </a:p>
          <a:p>
            <a:r>
              <a:rPr lang="es-AR" dirty="0" err="1" smtClean="0"/>
              <a:t>Dodero</a:t>
            </a:r>
            <a:r>
              <a:rPr lang="es-AR" dirty="0" smtClean="0"/>
              <a:t> Leonel</a:t>
            </a:r>
            <a:endParaRPr lang="es-AR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u="sng" dirty="0" smtClean="0"/>
              <a:t>Encapsulamiento</a:t>
            </a:r>
            <a:r>
              <a:rPr lang="es-AR" dirty="0" smtClean="0"/>
              <a:t/>
            </a:r>
            <a:br>
              <a:rPr lang="es-AR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1800" dirty="0" smtClean="0"/>
              <a:t>Es el concepto de ocultar los detalles internos de una clase ( como sus atributos y métodos) y proporciona una interfaz pública controlada a través de los métodos : </a:t>
            </a:r>
            <a:r>
              <a:rPr lang="es-AR" sz="1800" dirty="0" err="1" smtClean="0"/>
              <a:t>getter</a:t>
            </a:r>
            <a:r>
              <a:rPr lang="es-AR" sz="1800" dirty="0" smtClean="0"/>
              <a:t> (obtener) y setter(establecer) . Se trata de esconder la implementación interna de un objeto y exponer solo lo necesario,</a:t>
            </a:r>
            <a:r>
              <a:rPr lang="es-AR" sz="1800" b="1" dirty="0" smtClean="0"/>
              <a:t> </a:t>
            </a:r>
            <a:r>
              <a:rPr lang="es-AR" sz="1800" dirty="0" smtClean="0"/>
              <a:t>ocultar los detalles internos de implementación para protegerlos de accesos externos no deseados.</a:t>
            </a:r>
          </a:p>
          <a:p>
            <a:r>
              <a:rPr lang="es-AR" sz="1800" dirty="0" smtClean="0"/>
              <a:t>El  encapsulamiento en </a:t>
            </a:r>
            <a:r>
              <a:rPr lang="es-AR" sz="1800" dirty="0" err="1" smtClean="0"/>
              <a:t>Phyton</a:t>
            </a:r>
            <a:r>
              <a:rPr lang="es-AR" sz="1800" dirty="0" smtClean="0"/>
              <a:t> permite ocultar los detalles de una clase y exponer lo necesario para interactuar con ella de manera controlada. Mejorando la seguridad del código, reduciendo errores al restringir el acceso directo a los datos y hace que el mantenimiento de código sea más sencillo, permitiendo modificar la implementación interna sin afectar otras parte del programa. 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57224" y="642918"/>
            <a:ext cx="7772400" cy="5857916"/>
          </a:xfrm>
        </p:spPr>
        <p:txBody>
          <a:bodyPr>
            <a:normAutofit fontScale="55000" lnSpcReduction="20000"/>
          </a:bodyPr>
          <a:lstStyle/>
          <a:p>
            <a:r>
              <a:rPr lang="es-AR" sz="3300" u="sng" dirty="0" smtClean="0"/>
              <a:t>Ventajas de listas</a:t>
            </a:r>
          </a:p>
          <a:p>
            <a:pPr>
              <a:buNone/>
            </a:pPr>
            <a:r>
              <a:rPr lang="es-AR" sz="3300" dirty="0" smtClean="0"/>
              <a:t>	Son las más usadas porque son flexibles , dinámicas ( podes agregar eliminar o modificar elementos sin definir un tamaño fijo), y muy fáciles de manipular.</a:t>
            </a:r>
            <a:endParaRPr lang="es-AR" sz="3300" dirty="0" smtClean="0"/>
          </a:p>
          <a:p>
            <a:r>
              <a:rPr lang="es-AR" sz="3300" u="sng" dirty="0" smtClean="0"/>
              <a:t>Desventajas </a:t>
            </a:r>
            <a:r>
              <a:rPr lang="es-AR" sz="3300" u="sng" dirty="0" smtClean="0"/>
              <a:t>de listas</a:t>
            </a:r>
            <a:endParaRPr lang="es-AR" sz="3300" dirty="0" smtClean="0"/>
          </a:p>
          <a:p>
            <a:pPr>
              <a:buNone/>
            </a:pPr>
            <a:r>
              <a:rPr lang="es-AR" sz="3300" dirty="0" smtClean="0"/>
              <a:t>	Las </a:t>
            </a:r>
            <a:r>
              <a:rPr lang="es-AR" sz="3300" dirty="0" smtClean="0"/>
              <a:t>principales desventajas de las listas en Python son su lentitud en la búsqueda e inserción/eliminación de elementos, el uso más intensivo de memoria en comparación con otras estructuras de datos y la posibilidad de errores al intentar modificar la lista mientras se itera sobre ella. </a:t>
            </a:r>
          </a:p>
          <a:p>
            <a:r>
              <a:rPr lang="es-AR" sz="3300" u="sng" dirty="0" smtClean="0"/>
              <a:t>Ventajas de pilas</a:t>
            </a:r>
            <a:endParaRPr lang="es-AR" sz="3300" dirty="0" smtClean="0"/>
          </a:p>
          <a:p>
            <a:pPr>
              <a:buNone/>
            </a:pPr>
            <a:r>
              <a:rPr lang="es-AR" sz="3300" dirty="0" smtClean="0"/>
              <a:t>	</a:t>
            </a:r>
            <a:r>
              <a:rPr lang="es-AR" sz="3300" dirty="0" smtClean="0"/>
              <a:t> Las pilas se utilizan comúnmente en programación para tareas como retroceso, almacenamiento de memoria, análisis de expresiones y escenarios en los que es necesario revertir los cálculos, como la funcionalidad de deshacer o la búsqueda en profundidad.</a:t>
            </a:r>
          </a:p>
          <a:p>
            <a:r>
              <a:rPr lang="es-AR" sz="3300" u="sng" dirty="0" smtClean="0"/>
              <a:t>Desventajas de pilas</a:t>
            </a:r>
            <a:endParaRPr lang="es-AR" sz="3300" dirty="0" smtClean="0"/>
          </a:p>
          <a:p>
            <a:pPr>
              <a:buNone/>
            </a:pPr>
            <a:r>
              <a:rPr lang="es-AR" sz="3300" dirty="0" smtClean="0"/>
              <a:t>	Las </a:t>
            </a:r>
            <a:r>
              <a:rPr lang="es-AR" sz="3300" dirty="0" smtClean="0"/>
              <a:t>principales desventajas de las pilas en Python son su acceso limitado a elementos no superiores, la posible ineficiencia de memoria o rendimiento en implementaciones con listas (especialmente al aumentar el tamaño) y su falta de idoneidad para operaciones de búsqueda o acceso aleatorio. Si no se gestionan bien, pueden provocar errores de desbordamiento.</a:t>
            </a:r>
          </a:p>
          <a:p>
            <a:endParaRPr lang="es-AR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58204" cy="1500198"/>
          </a:xfrm>
        </p:spPr>
        <p:txBody>
          <a:bodyPr>
            <a:normAutofit fontScale="90000"/>
          </a:bodyPr>
          <a:lstStyle/>
          <a:p>
            <a:r>
              <a:rPr lang="es-AR" sz="4700" u="sng" dirty="0" smtClean="0"/>
              <a:t>Diferencia entre árboles binarios y árboles generales</a:t>
            </a:r>
            <a:r>
              <a:rPr lang="es-AR" dirty="0" smtClean="0"/>
              <a:t/>
            </a:r>
            <a:br>
              <a:rPr lang="es-AR" dirty="0" smtClean="0"/>
            </a:b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AR" sz="2300" u="sng" dirty="0" smtClean="0"/>
              <a:t>Árboles binarios:</a:t>
            </a:r>
            <a:r>
              <a:rPr lang="es-AR" sz="2300" dirty="0" smtClean="0"/>
              <a:t> </a:t>
            </a:r>
          </a:p>
          <a:p>
            <a:pPr>
              <a:buNone/>
            </a:pPr>
            <a:r>
              <a:rPr lang="es-AR" sz="2300" dirty="0" smtClean="0"/>
              <a:t>	</a:t>
            </a:r>
            <a:r>
              <a:rPr lang="es-AR" sz="2300" u="sng" dirty="0" smtClean="0"/>
              <a:t>Estructura</a:t>
            </a:r>
            <a:r>
              <a:rPr lang="es-AR" sz="2300" dirty="0" smtClean="0"/>
              <a:t>: cada nodo tiene como máximo dos hijos: un hijo izquierdo y uno derecho.</a:t>
            </a:r>
          </a:p>
          <a:p>
            <a:pPr>
              <a:buNone/>
            </a:pPr>
            <a:r>
              <a:rPr lang="es-AR" sz="2300" dirty="0" smtClean="0"/>
              <a:t>	</a:t>
            </a:r>
            <a:r>
              <a:rPr lang="es-AR" sz="2300" u="sng" dirty="0" smtClean="0"/>
              <a:t>Propósito</a:t>
            </a:r>
            <a:r>
              <a:rPr lang="es-AR" sz="2300" dirty="0" smtClean="0"/>
              <a:t>: son útiles para representar jerarquías simples, como expresiones matemáticas o estructuras de búsqueda.</a:t>
            </a:r>
          </a:p>
          <a:p>
            <a:pPr>
              <a:buNone/>
            </a:pPr>
            <a:r>
              <a:rPr lang="es-AR" sz="2300" dirty="0" smtClean="0"/>
              <a:t>	Tiene </a:t>
            </a:r>
            <a:r>
              <a:rPr lang="es-AR" sz="2300" dirty="0" smtClean="0"/>
              <a:t>como máximo 2 hijos.</a:t>
            </a:r>
          </a:p>
          <a:p>
            <a:r>
              <a:rPr lang="es-AR" sz="2300" u="sng" dirty="0" smtClean="0"/>
              <a:t>Árboles generales:</a:t>
            </a:r>
            <a:endParaRPr lang="es-AR" sz="2300" dirty="0" smtClean="0"/>
          </a:p>
          <a:p>
            <a:pPr>
              <a:buNone/>
            </a:pPr>
            <a:r>
              <a:rPr lang="es-AR" sz="2300" dirty="0" smtClean="0"/>
              <a:t>	</a:t>
            </a:r>
            <a:r>
              <a:rPr lang="es-AR" sz="2300" u="sng" dirty="0" smtClean="0"/>
              <a:t>Estructura</a:t>
            </a:r>
            <a:r>
              <a:rPr lang="es-AR" sz="2300" dirty="0" smtClean="0"/>
              <a:t>: cada nodo puede tener un número variable de hijos ( cero o más ).</a:t>
            </a:r>
          </a:p>
          <a:p>
            <a:pPr>
              <a:buNone/>
            </a:pPr>
            <a:r>
              <a:rPr lang="es-AR" sz="2300" dirty="0" smtClean="0"/>
              <a:t>	</a:t>
            </a:r>
            <a:r>
              <a:rPr lang="es-AR" sz="2300" u="sng" dirty="0" smtClean="0"/>
              <a:t>Propósito</a:t>
            </a:r>
            <a:r>
              <a:rPr lang="es-AR" sz="2300" dirty="0" smtClean="0"/>
              <a:t>: son más flexibles y pueden representar estructuras más complejas, como sistemas de archivos o jerarquías organizacionales</a:t>
            </a:r>
            <a:r>
              <a:rPr lang="es-AR" sz="2300" dirty="0" smtClean="0"/>
              <a:t>.</a:t>
            </a:r>
          </a:p>
          <a:p>
            <a:pPr>
              <a:buNone/>
            </a:pPr>
            <a:endParaRPr lang="es-AR" dirty="0" smtClean="0"/>
          </a:p>
          <a:p>
            <a:endParaRPr lang="es-AR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 redondeado"/>
          <p:cNvSpPr/>
          <p:nvPr/>
        </p:nvSpPr>
        <p:spPr>
          <a:xfrm>
            <a:off x="3643306" y="571480"/>
            <a:ext cx="1857388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 smtClean="0">
                <a:solidFill>
                  <a:schemeClr val="bg1"/>
                </a:solidFill>
              </a:rPr>
              <a:t>Gokú</a:t>
            </a:r>
            <a:endParaRPr lang="es-AR" dirty="0" smtClean="0">
              <a:solidFill>
                <a:schemeClr val="bg1"/>
              </a:solidFill>
            </a:endParaRPr>
          </a:p>
          <a:p>
            <a:pPr algn="ctr"/>
            <a:r>
              <a:rPr lang="es-AR" dirty="0" smtClean="0">
                <a:solidFill>
                  <a:schemeClr val="bg1"/>
                </a:solidFill>
              </a:rPr>
              <a:t>(120 poder)</a:t>
            </a:r>
            <a:endParaRPr lang="es-AR" dirty="0">
              <a:solidFill>
                <a:schemeClr val="bg1"/>
              </a:solidFill>
            </a:endParaRPr>
          </a:p>
        </p:txBody>
      </p:sp>
      <p:cxnSp>
        <p:nvCxnSpPr>
          <p:cNvPr id="4" name="3 Conector recto de flecha"/>
          <p:cNvCxnSpPr>
            <a:stCxn id="2" idx="2"/>
          </p:cNvCxnSpPr>
          <p:nvPr/>
        </p:nvCxnSpPr>
        <p:spPr>
          <a:xfrm rot="16200000" flipH="1">
            <a:off x="4786314" y="1000108"/>
            <a:ext cx="500066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5 Conector recto de flecha"/>
          <p:cNvCxnSpPr>
            <a:stCxn id="2" idx="2"/>
          </p:cNvCxnSpPr>
          <p:nvPr/>
        </p:nvCxnSpPr>
        <p:spPr>
          <a:xfrm rot="5400000">
            <a:off x="3857620" y="1000108"/>
            <a:ext cx="500066" cy="9286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Rectángulo redondeado"/>
          <p:cNvSpPr/>
          <p:nvPr/>
        </p:nvSpPr>
        <p:spPr>
          <a:xfrm>
            <a:off x="5500694" y="1643050"/>
            <a:ext cx="1571636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 smtClean="0">
                <a:solidFill>
                  <a:schemeClr val="bg1"/>
                </a:solidFill>
              </a:rPr>
              <a:t>Gohan</a:t>
            </a:r>
            <a:endParaRPr lang="es-AR" dirty="0" smtClean="0">
              <a:solidFill>
                <a:schemeClr val="bg1"/>
              </a:solidFill>
            </a:endParaRPr>
          </a:p>
          <a:p>
            <a:pPr algn="ctr"/>
            <a:r>
              <a:rPr lang="es-AR" dirty="0" smtClean="0">
                <a:solidFill>
                  <a:schemeClr val="bg1"/>
                </a:solidFill>
              </a:rPr>
              <a:t>(150 poder)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1928794" y="1643050"/>
            <a:ext cx="1714512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 smtClean="0">
                <a:solidFill>
                  <a:schemeClr val="bg1"/>
                </a:solidFill>
              </a:rPr>
              <a:t>Freezer</a:t>
            </a:r>
            <a:endParaRPr lang="es-AR" dirty="0" smtClean="0">
              <a:solidFill>
                <a:schemeClr val="bg1"/>
              </a:solidFill>
            </a:endParaRPr>
          </a:p>
          <a:p>
            <a:pPr algn="ctr"/>
            <a:r>
              <a:rPr lang="es-AR" dirty="0" smtClean="0">
                <a:solidFill>
                  <a:schemeClr val="bg1"/>
                </a:solidFill>
              </a:rPr>
              <a:t>(100 poder)</a:t>
            </a:r>
            <a:endParaRPr lang="es-AR" dirty="0">
              <a:solidFill>
                <a:schemeClr val="bg1"/>
              </a:solidFill>
            </a:endParaRPr>
          </a:p>
        </p:txBody>
      </p:sp>
      <p:cxnSp>
        <p:nvCxnSpPr>
          <p:cNvPr id="10" name="9 Conector recto de flecha"/>
          <p:cNvCxnSpPr>
            <a:stCxn id="8" idx="2"/>
          </p:cNvCxnSpPr>
          <p:nvPr/>
        </p:nvCxnSpPr>
        <p:spPr>
          <a:xfrm rot="5400000">
            <a:off x="2250265" y="2107397"/>
            <a:ext cx="428628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 redondeado"/>
          <p:cNvSpPr/>
          <p:nvPr/>
        </p:nvSpPr>
        <p:spPr>
          <a:xfrm>
            <a:off x="714348" y="2643182"/>
            <a:ext cx="1571636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 smtClean="0">
                <a:solidFill>
                  <a:schemeClr val="bg1"/>
                </a:solidFill>
              </a:rPr>
              <a:t>Piccolo</a:t>
            </a:r>
            <a:endParaRPr lang="es-AR" dirty="0" smtClean="0">
              <a:solidFill>
                <a:schemeClr val="bg1"/>
              </a:solidFill>
            </a:endParaRPr>
          </a:p>
          <a:p>
            <a:pPr algn="ctr"/>
            <a:r>
              <a:rPr lang="es-AR" dirty="0" smtClean="0">
                <a:solidFill>
                  <a:schemeClr val="bg1"/>
                </a:solidFill>
              </a:rPr>
              <a:t>(40 poder)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500034" y="571480"/>
            <a:ext cx="1500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EJEMPLOS</a:t>
            </a:r>
            <a:endParaRPr lang="es-AR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2285984" y="3929065"/>
            <a:ext cx="2000264" cy="7347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 smtClean="0">
                <a:solidFill>
                  <a:schemeClr val="bg1"/>
                </a:solidFill>
              </a:rPr>
              <a:t>Kamehameha</a:t>
            </a:r>
            <a:endParaRPr lang="es-AR" dirty="0" smtClean="0">
              <a:solidFill>
                <a:schemeClr val="bg1"/>
              </a:solidFill>
            </a:endParaRPr>
          </a:p>
          <a:p>
            <a:pPr algn="ctr"/>
            <a:r>
              <a:rPr lang="es-AR" dirty="0" smtClean="0">
                <a:solidFill>
                  <a:schemeClr val="bg1"/>
                </a:solidFill>
              </a:rPr>
              <a:t>(20 poder)</a:t>
            </a:r>
            <a:endParaRPr lang="es-AR" dirty="0">
              <a:solidFill>
                <a:schemeClr val="bg1"/>
              </a:solidFill>
            </a:endParaRPr>
          </a:p>
        </p:txBody>
      </p:sp>
      <p:cxnSp>
        <p:nvCxnSpPr>
          <p:cNvPr id="16" name="15 Conector recto de flecha"/>
          <p:cNvCxnSpPr>
            <a:stCxn id="14" idx="2"/>
          </p:cNvCxnSpPr>
          <p:nvPr/>
        </p:nvCxnSpPr>
        <p:spPr>
          <a:xfrm rot="16200000" flipH="1">
            <a:off x="3724948" y="4225024"/>
            <a:ext cx="408220" cy="12858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Rectángulo redondeado"/>
          <p:cNvSpPr/>
          <p:nvPr/>
        </p:nvSpPr>
        <p:spPr>
          <a:xfrm>
            <a:off x="4572000" y="5072074"/>
            <a:ext cx="1643074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>
                <a:solidFill>
                  <a:schemeClr val="bg1"/>
                </a:solidFill>
              </a:rPr>
              <a:t>Potenciado</a:t>
            </a:r>
          </a:p>
          <a:p>
            <a:pPr algn="ctr"/>
            <a:r>
              <a:rPr lang="es-AR" dirty="0" smtClean="0">
                <a:solidFill>
                  <a:schemeClr val="bg1"/>
                </a:solidFill>
              </a:rPr>
              <a:t>(30 poder)</a:t>
            </a:r>
            <a:endParaRPr lang="es-AR" dirty="0">
              <a:solidFill>
                <a:schemeClr val="bg1"/>
              </a:solidFill>
            </a:endParaRPr>
          </a:p>
        </p:txBody>
      </p:sp>
      <p:cxnSp>
        <p:nvCxnSpPr>
          <p:cNvPr id="20" name="19 Conector recto de flecha"/>
          <p:cNvCxnSpPr>
            <a:stCxn id="18" idx="2"/>
          </p:cNvCxnSpPr>
          <p:nvPr/>
        </p:nvCxnSpPr>
        <p:spPr>
          <a:xfrm rot="16200000" flipH="1">
            <a:off x="5518553" y="5518562"/>
            <a:ext cx="428628" cy="6786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Rectángulo redondeado"/>
          <p:cNvSpPr/>
          <p:nvPr/>
        </p:nvSpPr>
        <p:spPr>
          <a:xfrm>
            <a:off x="6072198" y="6143644"/>
            <a:ext cx="1643074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>
                <a:solidFill>
                  <a:schemeClr val="bg1"/>
                </a:solidFill>
              </a:rPr>
              <a:t>Súper</a:t>
            </a:r>
          </a:p>
          <a:p>
            <a:pPr algn="ctr"/>
            <a:r>
              <a:rPr lang="es-AR" dirty="0" smtClean="0">
                <a:solidFill>
                  <a:schemeClr val="bg1"/>
                </a:solidFill>
              </a:rPr>
              <a:t>(50 poder)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428596" y="3500438"/>
            <a:ext cx="2643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Evolución de habilidades</a:t>
            </a:r>
            <a:endParaRPr lang="es-AR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43042" y="428604"/>
            <a:ext cx="5629260" cy="1143008"/>
          </a:xfrm>
        </p:spPr>
        <p:txBody>
          <a:bodyPr>
            <a:normAutofit fontScale="90000"/>
          </a:bodyPr>
          <a:lstStyle/>
          <a:p>
            <a:r>
              <a:rPr lang="es-AR" u="sng" dirty="0" smtClean="0"/>
              <a:t>Cola de </a:t>
            </a:r>
            <a:r>
              <a:rPr lang="es-AR" u="sng" dirty="0" smtClean="0"/>
              <a:t>prioridades</a:t>
            </a:r>
            <a:br>
              <a:rPr lang="es-AR" u="sng" dirty="0" smtClean="0"/>
            </a:br>
            <a:endParaRPr lang="es-AR" u="sng" dirty="0"/>
          </a:p>
        </p:txBody>
      </p:sp>
      <p:sp>
        <p:nvSpPr>
          <p:cNvPr id="5" name="4 CuadroTexto"/>
          <p:cNvSpPr txBox="1"/>
          <p:nvPr/>
        </p:nvSpPr>
        <p:spPr>
          <a:xfrm>
            <a:off x="1428728" y="1928802"/>
            <a:ext cx="635798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Es una estructura de datos abstracta donde cada elemento se le asigna una prioridad, y los elementos se procesan o recuperan basándose en una prioridad, no necesariamente en el orden en que entraron (como en una cola normal o FIFO).</a:t>
            </a:r>
            <a:br>
              <a:rPr lang="es-AR" dirty="0" smtClean="0"/>
            </a:br>
            <a:r>
              <a:rPr lang="es-AR" dirty="0" smtClean="0"/>
              <a:t>La forma más común y eficiente de implementar una cola de prioridades es usando el módulo </a:t>
            </a:r>
            <a:r>
              <a:rPr lang="es-AR" i="1" dirty="0" smtClean="0"/>
              <a:t>heapq</a:t>
            </a:r>
            <a:r>
              <a:rPr lang="es-AR" dirty="0" smtClean="0"/>
              <a:t> para mantener los elementos organizados eficientemente. La cola siempre devuelve el elemento con la máxima prioridad.</a:t>
            </a:r>
            <a:br>
              <a:rPr lang="es-AR" dirty="0" smtClean="0"/>
            </a:br>
            <a:endParaRPr lang="es-AR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14546" y="428604"/>
            <a:ext cx="4500594" cy="785818"/>
          </a:xfrm>
        </p:spPr>
        <p:txBody>
          <a:bodyPr>
            <a:normAutofit fontScale="90000"/>
          </a:bodyPr>
          <a:lstStyle/>
          <a:p>
            <a:r>
              <a:rPr lang="es-AR" sz="4700" u="sng" dirty="0" smtClean="0"/>
              <a:t/>
            </a:r>
            <a:br>
              <a:rPr lang="es-AR" sz="4700" u="sng" dirty="0" smtClean="0"/>
            </a:br>
            <a:r>
              <a:rPr lang="es-AR" sz="4700" u="sng" dirty="0" smtClean="0"/>
              <a:t/>
            </a:r>
            <a:br>
              <a:rPr lang="es-AR" sz="4700" u="sng" dirty="0" smtClean="0"/>
            </a:br>
            <a:r>
              <a:rPr lang="es-AR" sz="4700" u="sng" dirty="0" err="1" smtClean="0"/>
              <a:t>Heap</a:t>
            </a:r>
            <a:r>
              <a:rPr lang="es-AR" sz="4700" u="sng" dirty="0" smtClean="0"/>
              <a:t> binario</a:t>
            </a:r>
            <a:r>
              <a:rPr lang="es-AR" u="sng" dirty="0" smtClean="0"/>
              <a:t/>
            </a:r>
            <a:br>
              <a:rPr lang="es-AR" u="sng" dirty="0" smtClean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u="sng" dirty="0" smtClean="0"/>
              <a:t/>
            </a:r>
            <a:br>
              <a:rPr lang="es-AR" u="sng" dirty="0" smtClean="0"/>
            </a:br>
            <a:endParaRPr lang="es-AR" u="sng" dirty="0"/>
          </a:p>
        </p:txBody>
      </p:sp>
      <p:sp>
        <p:nvSpPr>
          <p:cNvPr id="6" name="5 CuadroTexto"/>
          <p:cNvSpPr txBox="1"/>
          <p:nvPr/>
        </p:nvSpPr>
        <p:spPr>
          <a:xfrm>
            <a:off x="642910" y="1643050"/>
            <a:ext cx="80010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 Es una estructura de datos basada en un árbol que cumple con la propiedad </a:t>
            </a:r>
            <a:r>
              <a:rPr lang="es-AR" i="1" dirty="0" err="1" smtClean="0"/>
              <a:t>heap</a:t>
            </a:r>
            <a:r>
              <a:rPr lang="es-AR" i="1" dirty="0" smtClean="0"/>
              <a:t> </a:t>
            </a:r>
            <a:r>
              <a:rPr lang="es-AR" dirty="0" smtClean="0"/>
              <a:t>:	</a:t>
            </a:r>
            <a:br>
              <a:rPr lang="es-AR" dirty="0" smtClean="0"/>
            </a:br>
            <a:r>
              <a:rPr lang="es-AR" u="sng" dirty="0" smtClean="0"/>
              <a:t>Forma de árbol binario completo:</a:t>
            </a:r>
            <a:r>
              <a:rPr lang="es-AR" dirty="0" smtClean="0"/>
              <a:t> es un árbol casi completamente lleno, donde todos los niveles están completos excepto posiblemente el último, que se  llena de izquierda a derecha.</a:t>
            </a:r>
            <a:br>
              <a:rPr lang="es-AR" dirty="0" smtClean="0"/>
            </a:br>
            <a:r>
              <a:rPr lang="es-AR" u="sng" dirty="0" smtClean="0"/>
              <a:t>Propiedad de </a:t>
            </a:r>
            <a:r>
              <a:rPr lang="es-AR" u="sng" dirty="0" err="1" smtClean="0"/>
              <a:t>Heap</a:t>
            </a:r>
            <a:r>
              <a:rPr lang="es-AR" u="sng" dirty="0" smtClean="0"/>
              <a:t>:</a:t>
            </a:r>
            <a:r>
              <a:rPr lang="es-AR" dirty="0" smtClean="0"/>
              <a:t> </a:t>
            </a:r>
            <a:r>
              <a:rPr lang="es-AR" i="1" dirty="0" smtClean="0"/>
              <a:t>Min-</a:t>
            </a:r>
            <a:r>
              <a:rPr lang="es-AR" i="1" dirty="0" err="1" smtClean="0"/>
              <a:t>Heap</a:t>
            </a:r>
            <a:r>
              <a:rPr lang="es-AR" dirty="0" smtClean="0"/>
              <a:t> (montículo mínimo) el valor de cada nodo es menor o igual que el valor de sus hijos. El elemento más pequeño siempre está en la raíz (índice 0).</a:t>
            </a:r>
            <a:br>
              <a:rPr lang="es-AR" dirty="0" smtClean="0"/>
            </a:br>
            <a:r>
              <a:rPr lang="es-AR" i="1" dirty="0" smtClean="0"/>
              <a:t>Max-</a:t>
            </a:r>
            <a:r>
              <a:rPr lang="es-AR" i="1" dirty="0" err="1" smtClean="0"/>
              <a:t>Heap</a:t>
            </a:r>
            <a:r>
              <a:rPr lang="es-AR" dirty="0" smtClean="0"/>
              <a:t> (montículo máximo) el valor de cada nodo es mayor o igual que el valor de sus hijos.</a:t>
            </a:r>
            <a:endParaRPr lang="es-AR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86116" y="-428652"/>
            <a:ext cx="3143272" cy="1785974"/>
          </a:xfrm>
        </p:spPr>
        <p:txBody>
          <a:bodyPr>
            <a:normAutofit fontScale="90000"/>
          </a:bodyPr>
          <a:lstStyle/>
          <a:p>
            <a:r>
              <a:rPr lang="es-AR" sz="4700" u="sng" dirty="0" smtClean="0"/>
              <a:t/>
            </a:r>
            <a:br>
              <a:rPr lang="es-AR" sz="4700" u="sng" dirty="0" smtClean="0"/>
            </a:br>
            <a:r>
              <a:rPr lang="es-AR" sz="4700" u="sng" dirty="0" smtClean="0"/>
              <a:t/>
            </a:r>
            <a:br>
              <a:rPr lang="es-AR" sz="4700" u="sng" dirty="0" smtClean="0"/>
            </a:br>
            <a:r>
              <a:rPr lang="es-AR" sz="4700" u="sng" dirty="0" smtClean="0"/>
              <a:t/>
            </a:r>
            <a:br>
              <a:rPr lang="es-AR" sz="4700" u="sng" dirty="0" smtClean="0"/>
            </a:br>
            <a:r>
              <a:rPr lang="es-AR" sz="4700" u="sng" dirty="0" smtClean="0"/>
              <a:t/>
            </a:r>
            <a:br>
              <a:rPr lang="es-AR" sz="4700" u="sng" dirty="0" smtClean="0"/>
            </a:br>
            <a:r>
              <a:rPr lang="es-AR" sz="4700" u="sng" dirty="0" smtClean="0"/>
              <a:t>Grafos</a:t>
            </a:r>
            <a:r>
              <a:rPr lang="es-AR" u="sng" dirty="0" smtClean="0"/>
              <a:t/>
            </a:r>
            <a:br>
              <a:rPr lang="es-AR" u="sng" dirty="0" smtClean="0"/>
            </a:br>
            <a:r>
              <a:rPr lang="es-AR" sz="2300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s-AR" sz="2300" dirty="0" smtClean="0">
                <a:solidFill>
                  <a:schemeClr val="tx1"/>
                </a:solidFill>
                <a:latin typeface="+mn-lt"/>
              </a:rPr>
            </a:br>
            <a:r>
              <a:rPr lang="es-AR" sz="2300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s-AR" sz="2300" dirty="0" smtClean="0">
                <a:solidFill>
                  <a:schemeClr val="tx1"/>
                </a:solidFill>
                <a:latin typeface="+mn-lt"/>
              </a:rPr>
            </a:br>
            <a:r>
              <a:rPr lang="es-AR" sz="2300" u="sng" dirty="0" smtClean="0">
                <a:solidFill>
                  <a:schemeClr val="tx1"/>
                </a:solidFill>
                <a:latin typeface="+mn-lt"/>
              </a:rPr>
              <a:t/>
            </a:r>
            <a:br>
              <a:rPr lang="es-AR" sz="2300" u="sng" dirty="0" smtClean="0">
                <a:solidFill>
                  <a:schemeClr val="tx1"/>
                </a:solidFill>
                <a:latin typeface="+mn-lt"/>
              </a:rPr>
            </a:br>
            <a:r>
              <a:rPr lang="es-AR" u="sng" dirty="0" smtClean="0"/>
              <a:t/>
            </a:r>
            <a:br>
              <a:rPr lang="es-AR" u="sng" dirty="0" smtClean="0"/>
            </a:br>
            <a:r>
              <a:rPr lang="es-AR" u="sng" dirty="0" smtClean="0"/>
              <a:t/>
            </a:r>
            <a:br>
              <a:rPr lang="es-AR" u="sng" dirty="0" smtClean="0"/>
            </a:br>
            <a:endParaRPr lang="es-AR" u="sng" dirty="0"/>
          </a:p>
        </p:txBody>
      </p:sp>
      <p:sp>
        <p:nvSpPr>
          <p:cNvPr id="4" name="3 CuadroTexto"/>
          <p:cNvSpPr txBox="1"/>
          <p:nvPr/>
        </p:nvSpPr>
        <p:spPr>
          <a:xfrm>
            <a:off x="1500166" y="671691"/>
            <a:ext cx="642942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Es una estructura de datos compuesta por nodos( también llamados vértices) y aristas (o enlaces) que conectan pares de nodos, donde cada arista indica una relación entre dos nodos.</a:t>
            </a:r>
            <a:br>
              <a:rPr lang="es-AR" dirty="0" smtClean="0"/>
            </a:br>
            <a:r>
              <a:rPr lang="es-AR" dirty="0" smtClean="0"/>
              <a:t>Los grafos pueden ser :</a:t>
            </a:r>
            <a:br>
              <a:rPr lang="es-AR" dirty="0" smtClean="0"/>
            </a:br>
            <a:r>
              <a:rPr lang="es-AR" dirty="0" smtClean="0"/>
              <a:t>Dirigidos : las aristas tienen una dirección.</a:t>
            </a:r>
            <a:br>
              <a:rPr lang="es-AR" dirty="0" smtClean="0"/>
            </a:br>
            <a:r>
              <a:rPr lang="es-AR" dirty="0" smtClean="0"/>
              <a:t>No dirigidos: las aristas son bidireccionales.</a:t>
            </a:r>
            <a:br>
              <a:rPr lang="es-AR" dirty="0" smtClean="0"/>
            </a:br>
            <a:r>
              <a:rPr lang="es-AR" dirty="0" smtClean="0"/>
              <a:t>Ponderados: cada arista lleva un peso(costo, distancia, capacidad, etc).</a:t>
            </a:r>
            <a:br>
              <a:rPr lang="es-AR" dirty="0" smtClean="0"/>
            </a:br>
            <a:r>
              <a:rPr lang="es-AR" u="sng" dirty="0" smtClean="0"/>
              <a:t>Aplicación en universos de ciencia ficción.</a:t>
            </a:r>
            <a:br>
              <a:rPr lang="es-AR" u="sng" dirty="0" smtClean="0"/>
            </a:br>
            <a:r>
              <a:rPr lang="es-AR" dirty="0" smtClean="0"/>
              <a:t>Los grafos son perfectos para modelar mundos complejos con muchos planetas, rutas espaciales, facciones y relaciones políticas.</a:t>
            </a:r>
            <a:br>
              <a:rPr lang="es-AR" dirty="0" smtClean="0"/>
            </a:br>
            <a:r>
              <a:rPr lang="es-AR" dirty="0" smtClean="0"/>
              <a:t>Cada planeta es un nodo.</a:t>
            </a:r>
            <a:br>
              <a:rPr lang="es-AR" dirty="0" smtClean="0"/>
            </a:br>
            <a:r>
              <a:rPr lang="es-AR" dirty="0" smtClean="0"/>
              <a:t>Cada ruta espacial es una arista.</a:t>
            </a:r>
            <a:br>
              <a:rPr lang="es-AR" dirty="0" smtClean="0"/>
            </a:br>
            <a:r>
              <a:rPr lang="es-AR" u="sng" dirty="0" smtClean="0"/>
              <a:t>Ponderada</a:t>
            </a:r>
            <a:r>
              <a:rPr lang="es-AR" dirty="0" smtClean="0"/>
              <a:t>: dependiendo de la distancia o combustible requerido.</a:t>
            </a:r>
            <a:br>
              <a:rPr lang="es-AR" dirty="0" smtClean="0"/>
            </a:br>
            <a:r>
              <a:rPr lang="es-AR" u="sng" dirty="0" smtClean="0"/>
              <a:t>Dirigida</a:t>
            </a:r>
            <a:r>
              <a:rPr lang="es-AR" dirty="0" smtClean="0"/>
              <a:t>: rutas de un solo sentido (agujeros de gusano inestables)</a:t>
            </a:r>
            <a:br>
              <a:rPr lang="es-AR" dirty="0" smtClean="0"/>
            </a:br>
            <a:r>
              <a:rPr lang="es-AR" u="sng" dirty="0" smtClean="0"/>
              <a:t>No dirigida</a:t>
            </a:r>
            <a:r>
              <a:rPr lang="es-AR" dirty="0" smtClean="0"/>
              <a:t>: rutas libres bidireccionales.</a:t>
            </a:r>
            <a:br>
              <a:rPr lang="es-AR" dirty="0" smtClean="0"/>
            </a:br>
            <a:r>
              <a:rPr lang="es-AR" dirty="0" smtClean="0"/>
              <a:t>Esto permite aplicar algoritmos como </a:t>
            </a:r>
            <a:r>
              <a:rPr lang="es-AR" dirty="0" err="1" smtClean="0"/>
              <a:t>Dijkstra</a:t>
            </a:r>
            <a:r>
              <a:rPr lang="es-AR" dirty="0" smtClean="0"/>
              <a:t> para calcular el camino más seguro o más corto.</a:t>
            </a:r>
            <a:endParaRPr lang="es-A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2910" y="214290"/>
            <a:ext cx="8229600" cy="1399032"/>
          </a:xfrm>
        </p:spPr>
        <p:txBody>
          <a:bodyPr>
            <a:normAutofit fontScale="90000"/>
          </a:bodyPr>
          <a:lstStyle/>
          <a:p>
            <a:r>
              <a:rPr lang="es-AR" sz="4700" u="sng" dirty="0" smtClean="0"/>
              <a:t>Complejidad de algoritmos DFS y BFS</a:t>
            </a:r>
            <a:r>
              <a:rPr lang="es-AR" dirty="0" smtClean="0"/>
              <a:t/>
            </a:r>
            <a:br>
              <a:rPr lang="es-AR" dirty="0" smtClean="0"/>
            </a:br>
            <a:endParaRPr lang="es-AR" sz="2000" dirty="0"/>
          </a:p>
        </p:txBody>
      </p:sp>
      <p:sp>
        <p:nvSpPr>
          <p:cNvPr id="3" name="2 CuadroTexto"/>
          <p:cNvSpPr txBox="1"/>
          <p:nvPr/>
        </p:nvSpPr>
        <p:spPr>
          <a:xfrm>
            <a:off x="1214414" y="1785926"/>
            <a:ext cx="69294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Ambas recorren todo el grafo de manera sistemática porque cada nodo se visita una sola vez y cada arista se examina  una sola vez.</a:t>
            </a:r>
            <a:br>
              <a:rPr lang="es-AR" dirty="0" smtClean="0"/>
            </a:br>
            <a:r>
              <a:rPr lang="es-AR" dirty="0" smtClean="0"/>
              <a:t>Por eso recorrer todo el grafo cuesta tiempo lineal respecto al tamaño del universo.</a:t>
            </a:r>
            <a:br>
              <a:rPr lang="es-AR" dirty="0" smtClean="0"/>
            </a:br>
            <a:r>
              <a:rPr lang="es-AR" dirty="0" smtClean="0"/>
              <a:t>DFS usa una pila normalmente por recursión y el BFS usa una cola.</a:t>
            </a:r>
            <a:br>
              <a:rPr lang="es-AR" dirty="0" smtClean="0"/>
            </a:br>
            <a:r>
              <a:rPr lang="es-AR" dirty="0" smtClean="0"/>
              <a:t>En un universo de ciencia ficción podes usar:</a:t>
            </a:r>
            <a:br>
              <a:rPr lang="es-AR" dirty="0" smtClean="0"/>
            </a:br>
            <a:r>
              <a:rPr lang="es-AR" dirty="0" smtClean="0"/>
              <a:t>BFS  para encontrar el aliado más cercano por rutas espaciales, calcular la distancia política mínima o determinar el camino mas corto para pedir refuerzos.</a:t>
            </a:r>
            <a:br>
              <a:rPr lang="es-AR" dirty="0" smtClean="0"/>
            </a:br>
            <a:r>
              <a:rPr lang="es-AR" dirty="0" smtClean="0"/>
              <a:t>DFS para inspeccionar redes de  espionaje, rastrear enemigos  infiltrados, descubrir grupos conectados profundamente o analizar expansiones de territorios hostiles.</a:t>
            </a:r>
            <a:endParaRPr lang="es-AR" dirty="0"/>
          </a:p>
        </p:txBody>
      </p:sp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u="sng" dirty="0" smtClean="0"/>
              <a:t>Ordenamiento topológico</a:t>
            </a:r>
            <a:endParaRPr lang="es-AR" u="sng" dirty="0"/>
          </a:p>
        </p:txBody>
      </p:sp>
      <p:sp>
        <p:nvSpPr>
          <p:cNvPr id="3" name="2 CuadroTexto"/>
          <p:cNvSpPr txBox="1"/>
          <p:nvPr/>
        </p:nvSpPr>
        <p:spPr>
          <a:xfrm>
            <a:off x="857224" y="1571612"/>
            <a:ext cx="6858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Ordena los nodos de un grafo acíclico dirigido para que, si hay una arista  de un nodo A  </a:t>
            </a:r>
            <a:r>
              <a:rPr lang="es-AR" dirty="0" smtClean="0"/>
              <a:t>a</a:t>
            </a:r>
            <a:r>
              <a:rPr lang="es-AR" dirty="0" smtClean="0"/>
              <a:t> un nodo B, A aparezca antes que B en la secuencia</a:t>
            </a:r>
            <a:endParaRPr lang="es-AR" dirty="0"/>
          </a:p>
        </p:txBody>
      </p:sp>
    </p:spTree>
  </p:cSld>
  <p:clrMapOvr>
    <a:masterClrMapping/>
  </p:clrMapOvr>
  <p:transition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ío">
  <a:themeElements>
    <a:clrScheme name="Brío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Brío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Brío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1889</TotalTime>
  <Words>289</Words>
  <Application>Microsoft Office PowerPoint</Application>
  <PresentationFormat>Presentación en pantalla (4:3)</PresentationFormat>
  <Paragraphs>49</Paragraphs>
  <Slides>10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Brío</vt:lpstr>
      <vt:lpstr>PERSONAJES DE CIENCIA FICCIÓN</vt:lpstr>
      <vt:lpstr>Encapsulamiento </vt:lpstr>
      <vt:lpstr>Diapositiva 3</vt:lpstr>
      <vt:lpstr>Diferencia entre árboles binarios y árboles generales </vt:lpstr>
      <vt:lpstr>Diapositiva 5</vt:lpstr>
      <vt:lpstr>Cola de prioridades </vt:lpstr>
      <vt:lpstr>  Heap binario   </vt:lpstr>
      <vt:lpstr>    Grafos      </vt:lpstr>
      <vt:lpstr>Complejidad de algoritmos DFS y BFS </vt:lpstr>
      <vt:lpstr>Ordenamiento topológico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PERSONAJES DE CIENCIA FICCIÓN</dc:title>
  <dc:creator>Leticia</dc:creator>
  <cp:lastModifiedBy>Leticia</cp:lastModifiedBy>
  <cp:revision>12</cp:revision>
  <dcterms:created xsi:type="dcterms:W3CDTF">2025-11-08T23:23:30Z</dcterms:created>
  <dcterms:modified xsi:type="dcterms:W3CDTF">2025-11-27T22:02:14Z</dcterms:modified>
</cp:coreProperties>
</file>